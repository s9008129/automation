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47472"/>
            <a:ext cx="621792" cy="621792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6217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420624"/>
            <a:ext cx="3657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7AFF"/>
                </a:solidFill>
                <a:latin typeface="Arial"/>
              </a:rPr>
              <a:t>RPA-Cowork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502920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內網自動化協作工具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56816"/>
            <a:ext cx="4937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6E6E73"/>
                </a:solidFill>
                <a:latin typeface="Arial"/>
              </a:rPr>
              <a:t>先蒐集、再協作、後執行 — 讓 AI 幫你完成內網自動化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70048"/>
            <a:ext cx="3474720" cy="310896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00" b="1">
                <a:solidFill>
                  <a:srgbClr val="007AFF"/>
                </a:solidFill>
                <a:latin typeface="Arial"/>
              </a:rPr>
              <a:t>離線優先 · 人機協作 · 零程式門檻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27248"/>
            <a:ext cx="4709160" cy="1078992"/>
          </a:xfrm>
          <a:prstGeom prst="roundRect">
            <a:avLst/>
          </a:prstGeom>
          <a:solidFill>
            <a:srgbClr val="F5F5F7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3474720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3182112"/>
            <a:ext cx="4014216" cy="96926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1">
                <a:solidFill>
                  <a:srgbClr val="007AFF"/>
                </a:solidFill>
                <a:latin typeface="Arial"/>
              </a:rPr>
              <a:t>適合完全沒有程式開發經驗的人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把工作拆小，把頁面素材交給 AI，再回到內網執行。</a:t>
            </a:r>
          </a:p>
        </p:txBody>
      </p:sp>
      <p:pic>
        <p:nvPicPr>
          <p:cNvPr id="11" name="Picture 10" descr="workflow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658368"/>
            <a:ext cx="59893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為什麼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為什麼需要 RPA-Cowork？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把安全限制、重複操作、學習門檻拆成一條清楚主線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4736592" cy="1005840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81051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295" y="1792224"/>
            <a:ext cx="39867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80" b="1">
                <a:solidFill>
                  <a:srgbClr val="1F1F1F"/>
                </a:solidFill>
                <a:latin typeface="Arial"/>
              </a:rPr>
              <a:t>內網系統無法直接讓 AI 存取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2121408"/>
            <a:ext cx="396849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30" b="0">
                <a:solidFill>
                  <a:srgbClr val="6E6E73"/>
                </a:solidFill>
                <a:latin typeface="Arial"/>
              </a:rPr>
              <a:t>企業內部網路有安全限制；素材要先蒐集好，再交給外部 AI。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5" y="2286000"/>
            <a:ext cx="3858768" cy="21945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FA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2313432"/>
            <a:ext cx="3685031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FF9500"/>
                </a:solidFill>
                <a:latin typeface="Arial"/>
              </a:rPr>
              <a:t>先把素材帶出去，而不是讓 AI 直接進來。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16352"/>
            <a:ext cx="4736592" cy="100584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p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962656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25295" y="2944368"/>
            <a:ext cx="39867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80" b="1">
                <a:solidFill>
                  <a:srgbClr val="1F1F1F"/>
                </a:solidFill>
                <a:latin typeface="Arial"/>
              </a:rPr>
              <a:t>手動重複操作耗時費力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5" y="3273552"/>
            <a:ext cx="396849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30" b="0">
                <a:solidFill>
                  <a:srgbClr val="6E6E73"/>
                </a:solidFill>
                <a:latin typeface="Arial"/>
              </a:rPr>
              <a:t>每天登入、查表、填寫、送出，反覆做同樣的事最花時間。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5295" y="3438144"/>
            <a:ext cx="3858768" cy="21945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FA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3465575"/>
            <a:ext cx="3685031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7AFF"/>
                </a:solidFill>
                <a:latin typeface="Arial"/>
              </a:rPr>
              <a:t>把重複工作交給流程，讓人專心處理例外。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68496"/>
            <a:ext cx="4736592" cy="1005840"/>
          </a:xfrm>
          <a:prstGeom prst="roundRect">
            <a:avLst/>
          </a:prstGeom>
          <a:solidFill>
            <a:srgbClr val="F5EC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114800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25295" y="4096511"/>
            <a:ext cx="39867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80" b="1">
                <a:solidFill>
                  <a:srgbClr val="1F1F1F"/>
                </a:solidFill>
                <a:latin typeface="Arial"/>
              </a:rPr>
              <a:t>傳統自動化工具學習門檻高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5" y="4425696"/>
            <a:ext cx="396849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30" b="0">
                <a:solidFill>
                  <a:srgbClr val="6E6E73"/>
                </a:solidFill>
                <a:latin typeface="Arial"/>
              </a:rPr>
              <a:t>Selenium、UiPath 常需要程式基礎，還要維護版本與 driver。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5295" y="4590288"/>
            <a:ext cx="3858768" cy="21945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FA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8448" y="4617720"/>
            <a:ext cx="3685031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AF52DE"/>
                </a:solidFill>
                <a:latin typeface="Arial"/>
              </a:rPr>
              <a:t>不要先學工具，先完成任務。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1664208"/>
            <a:ext cx="5971032" cy="3310128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97296" y="1865376"/>
            <a:ext cx="1170432" cy="256032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RPA-Cowork 的做法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7296" y="2194560"/>
            <a:ext cx="5303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1F1F"/>
                </a:solidFill>
                <a:latin typeface="Arial"/>
              </a:rPr>
              <a:t>把工作拆成三段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2743200"/>
            <a:ext cx="1783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ap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889504"/>
            <a:ext cx="502920" cy="5029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61888" y="3429000"/>
            <a:ext cx="15636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Arial"/>
              </a:rPr>
              <a:t>蒐集素材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61888" y="3749039"/>
            <a:ext cx="1563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6E6E73"/>
                </a:solidFill>
                <a:latin typeface="Arial"/>
              </a:rPr>
              <a:t>ARIA / 截圖 / 錄製檔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3346704"/>
            <a:ext cx="20116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27264" y="2743200"/>
            <a:ext cx="1783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2889504"/>
            <a:ext cx="502920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936992" y="3429000"/>
            <a:ext cx="15636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Arial"/>
              </a:rPr>
              <a:t>交給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6992" y="3749039"/>
            <a:ext cx="1563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6E6E73"/>
                </a:solidFill>
                <a:latin typeface="Arial"/>
              </a:rPr>
              <a:t>讓 AI 補完腳本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3346704"/>
            <a:ext cx="20116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2368" y="2743200"/>
            <a:ext cx="1783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u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6728" y="2889504"/>
            <a:ext cx="502920" cy="5029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12096" y="3429000"/>
            <a:ext cx="15636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F1F1F"/>
                </a:solidFill>
                <a:latin typeface="Arial"/>
              </a:rPr>
              <a:t>回內網執行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12096" y="3749039"/>
            <a:ext cx="1563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6E6E73"/>
                </a:solidFill>
                <a:latin typeface="Arial"/>
              </a:rPr>
              <a:t>用 run-task.ps1 驗證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97296" y="4553712"/>
            <a:ext cx="5577840" cy="530352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7024" y="4626864"/>
            <a:ext cx="384048" cy="3840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45936" y="4608576"/>
            <a:ext cx="4882896" cy="420623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19" b="1">
                <a:solidFill>
                  <a:srgbClr val="007AFF"/>
                </a:solidFill>
                <a:latin typeface="Arial"/>
              </a:rPr>
              <a:t>重點</a:t>
            </a:r>
          </a:p>
          <a:p>
            <a:pPr algn="l"/>
            <a:r>
              <a:rPr sz="840" b="0">
                <a:solidFill>
                  <a:srgbClr val="1F1F1F"/>
                </a:solidFill>
                <a:latin typeface="Arial"/>
              </a:rPr>
              <a:t>這不是單一工具，而是一套可重複使用的工作流程。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人機協作流程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內網蒐集素材 → 外部 AI 協作 → 回內網執行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611880" cy="2523744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883664"/>
            <a:ext cx="475488" cy="4754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353312" y="1883664"/>
            <a:ext cx="676656" cy="201168"/>
          </a:xfrm>
          <a:prstGeom prst="round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212848"/>
            <a:ext cx="328269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內網蒐集素材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615184"/>
            <a:ext cx="3282696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6E6E73"/>
                </a:solidFill>
                <a:latin typeface="Arial"/>
              </a:rPr>
              <a:t>在內網電腦上蒐集 ARIA 快照、截圖、錄製檔。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" y="3273552"/>
            <a:ext cx="3282696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46704"/>
            <a:ext cx="309981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AC8FA"/>
                </a:solidFill>
                <a:latin typeface="Arial"/>
              </a:rPr>
              <a:t>頁面結構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670048"/>
            <a:ext cx="2743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737360"/>
            <a:ext cx="3611880" cy="2523744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1883664"/>
            <a:ext cx="475488" cy="47548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001768" y="1883664"/>
            <a:ext cx="676656" cy="201168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212848"/>
            <a:ext cx="328269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外部 AI 協作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615184"/>
            <a:ext cx="3282696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6E6E73"/>
                </a:solidFill>
                <a:latin typeface="Arial"/>
              </a:rPr>
              <a:t>把素材交給 AI，讓它根據頁面結構補完腳本。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3128" y="3273552"/>
            <a:ext cx="3282696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3346704"/>
            <a:ext cx="309981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AF52DE"/>
                </a:solidFill>
                <a:latin typeface="Arial"/>
              </a:rPr>
              <a:t>AI 推理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670048"/>
            <a:ext cx="2743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36992" y="1737360"/>
            <a:ext cx="3611880" cy="2523744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3" y="1883664"/>
            <a:ext cx="475488" cy="47548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650224" y="1883664"/>
            <a:ext cx="676656" cy="201168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212848"/>
            <a:ext cx="328269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回內網執行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2615184"/>
            <a:ext cx="3282696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6E6E73"/>
                </a:solidFill>
                <a:latin typeface="Arial"/>
              </a:rPr>
              <a:t>把寫好的腳本帶回內網，驗證是否能完成任務。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3273552"/>
            <a:ext cx="3282696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3" y="3346704"/>
            <a:ext cx="309981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4C759"/>
                </a:solidFill>
                <a:latin typeface="Arial"/>
              </a:rPr>
              <a:t>任務驗證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572000"/>
            <a:ext cx="10378440" cy="65836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o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709160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63040" y="4626864"/>
            <a:ext cx="9683496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1">
                <a:solidFill>
                  <a:srgbClr val="007AFF"/>
                </a:solidFill>
                <a:latin typeface="Arial"/>
              </a:rPr>
              <a:t>資料流向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內網先蒐集，再把素材交給外部 AI，最後回到內網執行。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四步驟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四步驟工作流程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技術準備者先打包，內網使用者照固定入口走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2770632" cy="314553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un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847088"/>
            <a:ext cx="457200" cy="457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487168" y="1865376"/>
            <a:ext cx="676656" cy="201168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技術準備者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32304"/>
            <a:ext cx="2478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準備離線包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98063"/>
            <a:ext cx="247802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0">
                <a:solidFill>
                  <a:srgbClr val="6E6E73"/>
                </a:solidFill>
                <a:latin typeface="Arial"/>
              </a:rPr>
              <a:t>技術準備者先執行腳本，確認 runtime、node_modules、.playwright-browsers 都完整。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931920"/>
            <a:ext cx="2478024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059935"/>
            <a:ext cx="236829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7AFF"/>
                </a:solidFill>
                <a:latin typeface="Arial"/>
              </a:rPr>
              <a:t>scripts\prepare-offline-bundle.ps1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7" y="3072384"/>
            <a:ext cx="2286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9584" y="1719072"/>
            <a:ext cx="2770632" cy="314553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ow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7" y="1847088"/>
            <a:ext cx="457200" cy="4572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376672" y="1865376"/>
            <a:ext cx="676656" cy="201168"/>
          </a:xfrm>
          <a:prstGeom prst="round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一般使用者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2432304"/>
            <a:ext cx="2478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內網蒐集素材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2798063"/>
            <a:ext cx="247802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0">
                <a:solidFill>
                  <a:srgbClr val="6E6E73"/>
                </a:solidFill>
                <a:latin typeface="Arial"/>
              </a:rPr>
              <a:t>先開 Edge（必要時也可用 Chrome），再用 install → launch → collect 蒐集頁面。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5887" y="3931920"/>
            <a:ext cx="2478024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4059935"/>
            <a:ext cx="236829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5AC8FA"/>
                </a:solidFill>
                <a:latin typeface="Arial"/>
              </a:rPr>
              <a:t>.\install.ps1 → .\launch-edge.ps1 → .\collect.ps1 --browser 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072384"/>
            <a:ext cx="2286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1719072"/>
            <a:ext cx="2770632" cy="314553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o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847088"/>
            <a:ext cx="457200" cy="4572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266175" y="1865376"/>
            <a:ext cx="676656" cy="201168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一般使用者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2432304"/>
            <a:ext cx="2478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請 AI 幫你寫腳本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2798063"/>
            <a:ext cx="247802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0">
                <a:solidFill>
                  <a:srgbClr val="6E6E73"/>
                </a:solidFill>
                <a:latin typeface="Arial"/>
              </a:rPr>
              <a:t>先建立骨架檔，再把骨架檔 + 同一次 materials 任務資料夾交給 AI。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3931920"/>
            <a:ext cx="2478024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0255" y="4059935"/>
            <a:ext cx="236829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AF52DE"/>
                </a:solidFill>
                <a:latin typeface="Arial"/>
              </a:rPr>
              <a:t>.\new-task.ps1 + materials\...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5" y="3072384"/>
            <a:ext cx="2286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08592" y="1719072"/>
            <a:ext cx="2770632" cy="314553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r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896" y="1847088"/>
            <a:ext cx="457200" cy="4572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1155680" y="1865376"/>
            <a:ext cx="676656" cy="201168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一般使用者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2432304"/>
            <a:ext cx="2478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回內網執行任務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2798063"/>
            <a:ext cx="247802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0">
                <a:solidFill>
                  <a:srgbClr val="6E6E73"/>
                </a:solidFill>
                <a:latin typeface="Arial"/>
              </a:rPr>
              <a:t>把 AI 回覆的腳本存回 src\，然後用統一入口 run-task 執行與驗證。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3931920"/>
            <a:ext cx="2478024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4059935"/>
            <a:ext cx="236829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34C759"/>
                </a:solidFill>
                <a:latin typeface="Arial"/>
              </a:rPr>
              <a:t>.\run-task.ps1 src\你的腳本.ts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138928"/>
            <a:ext cx="10378440" cy="585216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FFF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239512"/>
            <a:ext cx="384048" cy="3840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63040" y="5193792"/>
            <a:ext cx="9683496" cy="47548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19" b="1">
                <a:solidFill>
                  <a:srgbClr val="FF9500"/>
                </a:solidFill>
                <a:latin typeface="Arial"/>
              </a:rPr>
              <a:t>注意</a:t>
            </a:r>
          </a:p>
          <a:p>
            <a:pPr algn="l"/>
            <a:r>
              <a:rPr sz="840" b="0">
                <a:solidFill>
                  <a:srgbClr val="1F1F1F"/>
                </a:solidFill>
                <a:latin typeface="Arial"/>
              </a:rPr>
              <a:t>一般使用者不需要自行安裝 Node.js / npm；離線包應該已經包含所有執行依賴。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為什麼不用 Selenium？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先記住這三句：找按鈕、改版、維護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00784"/>
            <a:ext cx="5440680" cy="429768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65376"/>
            <a:ext cx="1170432" cy="256032"/>
          </a:xfrm>
          <a:prstGeom prst="roundRect">
            <a:avLst/>
          </a:prstGeom>
          <a:solidFill>
            <a:srgbClr val="FF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FF3B30"/>
                </a:solidFill>
                <a:latin typeface="Arial"/>
              </a:rPr>
              <a:t>Selenium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1F1F"/>
                </a:solidFill>
                <a:latin typeface="Arial"/>
              </a:rPr>
              <a:t>靠座標走路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480060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6E6E73"/>
                </a:solidFill>
                <a:latin typeface="Arial"/>
              </a:rPr>
              <a:t>像是記住家具位置，閉著眼睛走路。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44368"/>
            <a:ext cx="5074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" y="3108960"/>
            <a:ext cx="749808" cy="219456"/>
          </a:xfrm>
          <a:prstGeom prst="roundRect">
            <a:avLst/>
          </a:prstGeom>
          <a:solidFill>
            <a:srgbClr val="FF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3B30"/>
                </a:solidFill>
                <a:latin typeface="Arial"/>
              </a:rPr>
              <a:t>找按鈕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2224" y="3090672"/>
            <a:ext cx="36118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往右走 300 步、往下走 200 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3346704"/>
            <a:ext cx="36118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位置一變就按到空氣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77056"/>
            <a:ext cx="5074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9264" y="4041648"/>
            <a:ext cx="749808" cy="219456"/>
          </a:xfrm>
          <a:prstGeom prst="roundRect">
            <a:avLst/>
          </a:prstGeom>
          <a:solidFill>
            <a:srgbClr val="FF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3B30"/>
                </a:solidFill>
                <a:latin typeface="Arial"/>
              </a:rPr>
              <a:t>網頁改版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4" y="4023360"/>
            <a:ext cx="36118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路徑全壞，要重新調整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" y="4279392"/>
            <a:ext cx="36118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很容易撞牆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09744"/>
            <a:ext cx="50749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9264" y="4974336"/>
            <a:ext cx="749808" cy="219456"/>
          </a:xfrm>
          <a:prstGeom prst="roundRect">
            <a:avLst/>
          </a:prstGeom>
          <a:solidFill>
            <a:srgbClr val="FF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3B30"/>
                </a:solidFill>
                <a:latin typeface="Arial"/>
              </a:rPr>
              <a:t>版本維護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4" y="4956048"/>
            <a:ext cx="36118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driver 要配對版本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2224" y="5212080"/>
            <a:ext cx="36118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更新後常常不能用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1700784"/>
            <a:ext cx="5257800" cy="429768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73952" y="1865376"/>
            <a:ext cx="1389888" cy="256032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Playwright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221284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1F1F"/>
                </a:solidFill>
                <a:latin typeface="Arial"/>
              </a:rPr>
              <a:t>靠文字和語意找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514600"/>
            <a:ext cx="457200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6E6E73"/>
                </a:solidFill>
                <a:latin typeface="Arial"/>
              </a:rPr>
              <a:t>像是直接看門牌找房間。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2944368"/>
            <a:ext cx="48920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20256" y="3108960"/>
            <a:ext cx="749808" cy="219456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07AFF"/>
                </a:solidFill>
                <a:latin typeface="Arial"/>
              </a:rPr>
              <a:t>找按鈕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3090672"/>
            <a:ext cx="3383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找寫著「查詢」的按鈕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346704"/>
            <a:ext cx="3383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文字還在就能找到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3877056"/>
            <a:ext cx="48920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20256" y="4041648"/>
            <a:ext cx="749808" cy="219456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07AFF"/>
                </a:solidFill>
                <a:latin typeface="Arial"/>
              </a:rPr>
              <a:t>網頁改版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216" y="4023360"/>
            <a:ext cx="3383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通常不用重寫整段流程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4279392"/>
            <a:ext cx="3383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元素文字還在就比較穩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73952" y="4809744"/>
            <a:ext cx="489204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20256" y="4974336"/>
            <a:ext cx="749808" cy="219456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07AFF"/>
                </a:solidFill>
                <a:latin typeface="Arial"/>
              </a:rPr>
              <a:t>版本維護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3216" y="4956048"/>
            <a:ext cx="3383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不需要額外 driver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5212080"/>
            <a:ext cx="3383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離線包自帶，省很多事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6144768"/>
            <a:ext cx="8549640" cy="402336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6199631"/>
            <a:ext cx="347472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377440" y="6199631"/>
            <a:ext cx="7854696" cy="29260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19" b="1">
                <a:solidFill>
                  <a:srgbClr val="007AFF"/>
                </a:solidFill>
                <a:latin typeface="Arial"/>
              </a:rPr>
              <a:t>結論</a:t>
            </a:r>
          </a:p>
          <a:p>
            <a:pPr algn="l"/>
            <a:r>
              <a:rPr sz="840" b="0">
                <a:solidFill>
                  <a:srgbClr val="1F1F1F"/>
                </a:solidFill>
                <a:latin typeface="Arial"/>
              </a:rPr>
              <a:t>更穩定、更省事、更適合離線環境。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步驟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步驟一：蒐集素材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把頁面結構、截圖、錄製檔先保存下來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55648"/>
            <a:ext cx="2816352" cy="276148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901952"/>
            <a:ext cx="475488" cy="4754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560320" y="1938528"/>
            <a:ext cx="566928" cy="201168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04288"/>
            <a:ext cx="2468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1F1F1F"/>
                </a:solidFill>
                <a:latin typeface="Arial"/>
              </a:rPr>
              <a:t>檢查工具包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" y="2697480"/>
            <a:ext cx="2487168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798064"/>
            <a:ext cx="234086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7AFF"/>
                </a:solidFill>
                <a:latin typeface="Arial"/>
              </a:rPr>
              <a:t>.\install.ps1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200400"/>
            <a:ext cx="24871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E6E73"/>
                </a:solidFill>
                <a:latin typeface="Arial"/>
              </a:rPr>
              <a:t>確認 Node runtime、套件與 Playwright 瀏覽器是否完整。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" y="3986784"/>
            <a:ext cx="1316736" cy="201168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07AFF"/>
                </a:solidFill>
                <a:latin typeface="Arial"/>
              </a:rPr>
              <a:t>不是下載器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907792"/>
            <a:ext cx="219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1755648"/>
            <a:ext cx="2816352" cy="2761488"/>
          </a:xfrm>
          <a:prstGeom prst="roundRect">
            <a:avLst/>
          </a:prstGeom>
          <a:solidFill>
            <a:srgbClr val="E8F7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row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1" y="1901952"/>
            <a:ext cx="475488" cy="47548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897879" y="1938528"/>
            <a:ext cx="566928" cy="201168"/>
          </a:xfrm>
          <a:prstGeom prst="round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1" y="2304288"/>
            <a:ext cx="2468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1F1F1F"/>
                </a:solidFill>
                <a:latin typeface="Arial"/>
              </a:rPr>
              <a:t>開啟 Edge 視窗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42231" y="2697480"/>
            <a:ext cx="2487168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15383" y="2798064"/>
            <a:ext cx="234086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5AC8FA"/>
                </a:solidFill>
                <a:latin typeface="Arial"/>
              </a:rPr>
              <a:t>.\launch-edge.ps1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2231" y="3200400"/>
            <a:ext cx="24871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E6E73"/>
                </a:solidFill>
                <a:latin typeface="Arial"/>
              </a:rPr>
              <a:t>開啟已登入的 Edge，先打開要蒐集的目標網站頁面。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42231" y="3986784"/>
            <a:ext cx="1755648" cy="201168"/>
          </a:xfrm>
          <a:prstGeom prst="round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Chrome 可換 launch-chrome.ps1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2907792"/>
            <a:ext cx="219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755648"/>
            <a:ext cx="2816352" cy="2761488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ap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1901952"/>
            <a:ext cx="475488" cy="47548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235440" y="1938528"/>
            <a:ext cx="566928" cy="201168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2304288"/>
            <a:ext cx="2468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1F1F1F"/>
                </a:solidFill>
                <a:latin typeface="Arial"/>
              </a:rPr>
              <a:t>開始蒐集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9792" y="2697480"/>
            <a:ext cx="2487168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52944" y="2798064"/>
            <a:ext cx="234086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7AFF"/>
                </a:solidFill>
                <a:latin typeface="Arial"/>
              </a:rPr>
              <a:t>.\collect.ps1 --browser 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200400"/>
            <a:ext cx="24871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E6E73"/>
                </a:solidFill>
                <a:latin typeface="Arial"/>
              </a:rPr>
              <a:t>在互動模式下逐頁擷取 ARIA 快照、截圖，必要時錄製流程。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792" y="3986784"/>
            <a:ext cx="1316736" cy="201168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07AFF"/>
                </a:solidFill>
                <a:latin typeface="Arial"/>
              </a:rPr>
              <a:t>Edge 是主線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956048"/>
            <a:ext cx="10424160" cy="603504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FFF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7" y="5065776"/>
            <a:ext cx="384048" cy="3840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7319" y="5010912"/>
            <a:ext cx="9729216" cy="49377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19" b="1">
                <a:solidFill>
                  <a:srgbClr val="FF9500"/>
                </a:solidFill>
                <a:latin typeface="Arial"/>
              </a:rPr>
              <a:t>提醒</a:t>
            </a:r>
          </a:p>
          <a:p>
            <a:pPr algn="l"/>
            <a:r>
              <a:rPr sz="840" b="0">
                <a:solidFill>
                  <a:srgbClr val="1F1F1F"/>
                </a:solidFill>
                <a:latin typeface="Arial"/>
              </a:rPr>
              <a:t>不要自行安裝 Node.js 或 npm；如果出現紅字，先把 logs\ 資料夾裡最新的 .log 檔交給技術準備者。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互動模式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互動模式：兩階段蒐集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可以在頁面蒐集與流程錄製之間來回切換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349240" cy="292608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75104"/>
            <a:ext cx="512064" cy="5120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481328" y="1993392"/>
            <a:ext cx="1188720" cy="219456"/>
          </a:xfrm>
          <a:prstGeom prst="round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階段 1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452628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1F1F"/>
                </a:solidFill>
                <a:latin typeface="Arial"/>
              </a:rPr>
              <a:t>頁面蒐集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670048"/>
            <a:ext cx="45720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6E6E73"/>
                </a:solidFill>
                <a:latin typeface="Arial"/>
              </a:rPr>
              <a:t>擷取 ARIA 快照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6E6E73"/>
                </a:solidFill>
                <a:latin typeface="Arial"/>
              </a:rPr>
              <a:t>擷取截圖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6E6E73"/>
                </a:solidFill>
                <a:latin typeface="Arial"/>
              </a:rPr>
              <a:t>可逐頁切換、蒐集多個頁面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383280"/>
            <a:ext cx="4937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57016"/>
            <a:ext cx="4572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AC8FA"/>
                </a:solidFill>
                <a:latin typeface="Arial"/>
              </a:rPr>
              <a:t>把 Edge 切到正確頁面 → 回到 PowerShell 選 [1]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737360"/>
            <a:ext cx="5349240" cy="292608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75104"/>
            <a:ext cx="512064" cy="51206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040880" y="1993392"/>
            <a:ext cx="1188720" cy="219456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階段 2 /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59152"/>
            <a:ext cx="452628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1F1F"/>
                </a:solidFill>
                <a:latin typeface="Arial"/>
              </a:rPr>
              <a:t>流程錄製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45720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6E6E73"/>
                </a:solidFill>
                <a:latin typeface="Arial"/>
              </a:rPr>
              <a:t>開新的 Playwright 錄製視窗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6E6E73"/>
                </a:solidFill>
                <a:latin typeface="Arial"/>
              </a:rPr>
              <a:t>在新視窗操作流程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6E6E73"/>
                </a:solidFill>
                <a:latin typeface="Arial"/>
              </a:rPr>
              <a:t>關閉後自動保存錄製檔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4937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557016"/>
            <a:ext cx="4572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AF52DE"/>
                </a:solidFill>
                <a:latin typeface="Arial"/>
              </a:rPr>
              <a:t>錄製完直接關閉新視窗，再回 PowerShell 繼續。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697480"/>
            <a:ext cx="3474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007AFF"/>
                </a:solidFill>
                <a:latin typeface="Arial"/>
              </a:rPr>
              <a:t>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983480"/>
            <a:ext cx="10332720" cy="65836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120640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5038344"/>
            <a:ext cx="9637776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220" b="1">
                <a:solidFill>
                  <a:srgbClr val="007AFF"/>
                </a:solidFill>
                <a:latin typeface="Arial"/>
              </a:rPr>
              <a:t>選單重點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蒐集完頁面後可以直接切到錄製階段，不需要中斷程式。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產出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你會得到什麼？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每次蒐集完成後，都會產生一個完整的 materials 任務資料夾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08</a:t>
            </a:r>
          </a:p>
        </p:txBody>
      </p:sp>
      <p:pic>
        <p:nvPicPr>
          <p:cNvPr id="8" name="Picture 7" descr="folde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0784"/>
            <a:ext cx="5532120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783080"/>
            <a:ext cx="5102352" cy="76809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11095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59168" y="1892807"/>
            <a:ext cx="41605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60" b="1">
                <a:solidFill>
                  <a:srgbClr val="1F1F1F"/>
                </a:solidFill>
                <a:latin typeface="Arial"/>
              </a:rPr>
              <a:t>aria-snapshots/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130552"/>
            <a:ext cx="41605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90" b="0">
                <a:solidFill>
                  <a:srgbClr val="6E6E73"/>
                </a:solidFill>
                <a:latin typeface="Arial"/>
              </a:rPr>
              <a:t>頁面結構，AI 的核心素材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624328"/>
            <a:ext cx="5102352" cy="76809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p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752344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59168" y="2734056"/>
            <a:ext cx="41605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60" b="1">
                <a:solidFill>
                  <a:srgbClr val="1F1F1F"/>
                </a:solidFill>
                <a:latin typeface="Arial"/>
              </a:rPr>
              <a:t>screenshots/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2971800"/>
            <a:ext cx="41605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90" b="0">
                <a:solidFill>
                  <a:srgbClr val="6E6E73"/>
                </a:solidFill>
                <a:latin typeface="Arial"/>
              </a:rPr>
              <a:t>畫面狀態，方便比對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465576"/>
            <a:ext cx="5102352" cy="76809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eco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3593592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59168" y="3575304"/>
            <a:ext cx="41605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60" b="1">
                <a:solidFill>
                  <a:srgbClr val="1F1F1F"/>
                </a:solidFill>
                <a:latin typeface="Arial"/>
              </a:rPr>
              <a:t>recordings/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813048"/>
            <a:ext cx="41605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90" b="0">
                <a:solidFill>
                  <a:srgbClr val="6E6E73"/>
                </a:solidFill>
                <a:latin typeface="Arial"/>
              </a:rPr>
              <a:t>操作順序，幫助重建流程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306824"/>
            <a:ext cx="5102352" cy="76809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434840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59168" y="4416552"/>
            <a:ext cx="41605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60" b="1">
                <a:solidFill>
                  <a:srgbClr val="1F1F1F"/>
                </a:solidFill>
                <a:latin typeface="Arial"/>
              </a:rPr>
              <a:t>metadata.json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4654296"/>
            <a:ext cx="41605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90" b="0">
                <a:solidFill>
                  <a:srgbClr val="6E6E73"/>
                </a:solidFill>
                <a:latin typeface="Arial"/>
              </a:rPr>
              <a:t>環境資訊與背景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5148072"/>
            <a:ext cx="5102352" cy="768096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5276088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59168" y="5257800"/>
            <a:ext cx="41605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60" b="1">
                <a:solidFill>
                  <a:srgbClr val="1F1F1F"/>
                </a:solidFill>
                <a:latin typeface="Arial"/>
              </a:rPr>
              <a:t>summary-report.md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5495544"/>
            <a:ext cx="41605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90" b="0">
                <a:solidFill>
                  <a:srgbClr val="6E6E73"/>
                </a:solidFill>
                <a:latin typeface="Arial"/>
              </a:rPr>
              <a:t>摘要報告與完成結果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6016752"/>
            <a:ext cx="5102352" cy="27432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6071616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95159" y="6071616"/>
            <a:ext cx="4407408" cy="1645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860" b="1">
                <a:solidFill>
                  <a:srgbClr val="007AFF"/>
                </a:solidFill>
                <a:latin typeface="Arial"/>
              </a:rPr>
              <a:t>重點 · 保持整包不動，不要拆散。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素材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AI 怎麼用你的素材？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素材越完整，AI 產出的腳本品質越高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2212848" cy="932688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74519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1874519"/>
            <a:ext cx="16276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1F1F1F"/>
                </a:solidFill>
                <a:latin typeface="Arial"/>
              </a:rPr>
              <a:t>ARIA 快照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130552"/>
            <a:ext cx="16276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19" b="0">
                <a:solidFill>
                  <a:srgbClr val="6E6E73"/>
                </a:solidFill>
                <a:latin typeface="Arial"/>
              </a:rPr>
              <a:t>按鈕名稱、表單、iframe 層級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1783080"/>
            <a:ext cx="2212848" cy="932688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1874519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84448" y="1874519"/>
            <a:ext cx="16276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1F1F1F"/>
                </a:solidFill>
                <a:latin typeface="Arial"/>
              </a:rPr>
              <a:t>截圖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130552"/>
            <a:ext cx="16276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19" b="0">
                <a:solidFill>
                  <a:srgbClr val="6E6E73"/>
                </a:solidFill>
                <a:latin typeface="Arial"/>
              </a:rPr>
              <a:t>畫面狀態、分頁、筆數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944368"/>
            <a:ext cx="2212848" cy="932688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c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035808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3035808"/>
            <a:ext cx="16276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1F1F1F"/>
                </a:solidFill>
                <a:latin typeface="Arial"/>
              </a:rPr>
              <a:t>錄製檔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291840"/>
            <a:ext cx="16276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19" b="0">
                <a:solidFill>
                  <a:srgbClr val="6E6E73"/>
                </a:solidFill>
                <a:latin typeface="Arial"/>
              </a:rPr>
              <a:t>你實際怎麼操作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27248" y="2944368"/>
            <a:ext cx="2212848" cy="932688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035808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84448" y="3035808"/>
            <a:ext cx="16276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1F1F1F"/>
                </a:solidFill>
                <a:latin typeface="Arial"/>
              </a:rPr>
              <a:t>metadata.json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3291840"/>
            <a:ext cx="16276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19" b="0">
                <a:solidFill>
                  <a:srgbClr val="6E6E73"/>
                </a:solidFill>
                <a:latin typeface="Arial"/>
              </a:rPr>
              <a:t>瀏覽器、系統、時間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92624" y="2286000"/>
            <a:ext cx="1463040" cy="137160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2432304"/>
            <a:ext cx="402336" cy="40233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20640" y="2871216"/>
            <a:ext cx="117043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7AFF"/>
                </a:solidFill>
                <a:latin typeface="Arial"/>
              </a:rPr>
              <a:t>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3108960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0">
                <a:solidFill>
                  <a:srgbClr val="6E6E73"/>
                </a:solidFill>
                <a:latin typeface="Arial"/>
              </a:rPr>
              <a:t>看懂素材後，才會寫出正確的定位與流程。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1755648"/>
            <a:ext cx="4773168" cy="329184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1956816"/>
            <a:ext cx="475488" cy="4754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43800" y="1920240"/>
            <a:ext cx="3657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F1F1F"/>
                </a:solidFill>
                <a:latin typeface="Arial"/>
              </a:rPr>
              <a:t>AI 產出的結果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395728"/>
            <a:ext cx="4297680" cy="4754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6E6E73"/>
                </a:solidFill>
                <a:latin typeface="Arial"/>
              </a:rPr>
              <a:t>可以直接拿去改成可執行腳本的草稿。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67728" y="2999232"/>
            <a:ext cx="4114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0608" y="3081528"/>
            <a:ext cx="3749039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34C759"/>
                </a:solidFill>
                <a:latin typeface="Arial"/>
              </a:rPr>
              <a:t>✓  定位更準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67728" y="3474720"/>
            <a:ext cx="4114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0608" y="3557016"/>
            <a:ext cx="3749039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34C759"/>
                </a:solidFill>
                <a:latin typeface="Arial"/>
              </a:rPr>
              <a:t>✓  分頁處理更完整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67728" y="3950208"/>
            <a:ext cx="4114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0608" y="4032504"/>
            <a:ext cx="3749039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34C759"/>
                </a:solidFill>
                <a:latin typeface="Arial"/>
              </a:rPr>
              <a:t>✓  更少寫死路徑 / 網址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7792" y="2139696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07792" y="3255264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2688336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3822191"/>
            <a:ext cx="2743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2852928"/>
            <a:ext cx="20116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" y="5248656"/>
            <a:ext cx="10241280" cy="420624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303520"/>
            <a:ext cx="365760" cy="3657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444752" y="5303520"/>
            <a:ext cx="9546336" cy="31089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19" b="1">
                <a:solidFill>
                  <a:srgbClr val="007AFF"/>
                </a:solidFill>
                <a:latin typeface="Arial"/>
              </a:rPr>
              <a:t>一句話</a:t>
            </a:r>
          </a:p>
          <a:p>
            <a:pPr algn="l"/>
            <a:r>
              <a:rPr sz="840" b="0">
                <a:solidFill>
                  <a:srgbClr val="1F1F1F"/>
                </a:solidFill>
                <a:latin typeface="Arial"/>
              </a:rPr>
              <a:t>素材越完整，AI 越能根據頁面結構與操作流程產出可靠腳本。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步驟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步驟二：請 AI 幫你寫腳本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先建立骨架，再把同一次任務的素材交給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55648"/>
            <a:ext cx="5047488" cy="1627632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938528"/>
            <a:ext cx="640080" cy="201168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pic>
        <p:nvPicPr>
          <p:cNvPr id="10" name="Picture 9" descr="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874519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17904" y="1901952"/>
            <a:ext cx="3749039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建立腳本骨架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40864"/>
            <a:ext cx="46634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448056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7AFF"/>
                </a:solidFill>
                <a:latin typeface="Arial"/>
              </a:rPr>
              <a:t>.\new-task.ps1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743200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E6E73"/>
                </a:solidFill>
                <a:latin typeface="Arial"/>
              </a:rPr>
              <a:t>完成後會產生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E6E73"/>
                </a:solidFill>
                <a:latin typeface="Arial"/>
              </a:rPr>
              <a:t>`src\系統代碼-任務名稱.ts`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5047488" cy="182880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730752"/>
            <a:ext cx="640080" cy="201168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17" name="Picture 16" descr="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57600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17904" y="3712463"/>
            <a:ext cx="3749039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上傳附件給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096512"/>
            <a:ext cx="4572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6E6E73"/>
                </a:solidFill>
                <a:latin typeface="Arial"/>
              </a:rPr>
              <a:t>• 骨架檔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6E6E73"/>
                </a:solidFill>
                <a:latin typeface="Arial"/>
              </a:rPr>
              <a:t>• 同一次任務的 materials 內容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6E6E73"/>
                </a:solidFill>
                <a:latin typeface="Arial"/>
              </a:rPr>
              <a:t>• metadata.json / screenshots / aria-snapshots / recordings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84064"/>
            <a:ext cx="4572000" cy="310896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FFF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138927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89888" y="5138927"/>
            <a:ext cx="3877056" cy="2011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860" b="1">
                <a:solidFill>
                  <a:srgbClr val="FF9500"/>
                </a:solidFill>
                <a:latin typeface="Arial"/>
              </a:rPr>
              <a:t>注意 · 不要上傳 .env。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1755648"/>
            <a:ext cx="5605272" cy="3712463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1920240"/>
            <a:ext cx="50292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1F1F"/>
                </a:solidFill>
                <a:latin typeface="Arial"/>
              </a:rPr>
              <a:t>上傳清單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194560"/>
            <a:ext cx="50292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6E6E73"/>
                </a:solidFill>
                <a:latin typeface="Arial"/>
              </a:rPr>
              <a:t>全部都要來自同一次任務資料夾。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2596896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679191"/>
            <a:ext cx="310896" cy="310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11696" y="2679191"/>
            <a:ext cx="429768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1F1F"/>
                </a:solidFill>
                <a:latin typeface="Arial"/>
              </a:rPr>
              <a:t>骨架檔：src\qiz201-批次簽核.ts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3200400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282696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11696" y="3282696"/>
            <a:ext cx="429768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1F1F"/>
                </a:solidFill>
                <a:latin typeface="Arial"/>
              </a:rPr>
              <a:t>ARIA 快照：aria-snapshots\*.txt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3803904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886200"/>
            <a:ext cx="310896" cy="310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11696" y="3886200"/>
            <a:ext cx="429768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1F1F"/>
                </a:solidFill>
                <a:latin typeface="Arial"/>
              </a:rPr>
              <a:t>截圖：screenshots\*.png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3056" y="4407408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489704"/>
            <a:ext cx="310896" cy="3108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11696" y="4489704"/>
            <a:ext cx="429768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1F1F"/>
                </a:solidFill>
                <a:latin typeface="Arial"/>
              </a:rPr>
              <a:t>錄製檔（如果有）：recordings\*.ts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6" y="5010912"/>
            <a:ext cx="5166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093208"/>
            <a:ext cx="310896" cy="3108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11696" y="5093208"/>
            <a:ext cx="429768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1F1F"/>
                </a:solidFill>
                <a:latin typeface="Arial"/>
              </a:rPr>
              <a:t>背景資訊：metadata.json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6" y="5705856"/>
            <a:ext cx="5029200" cy="29260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5760720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11696" y="5760720"/>
            <a:ext cx="4334256" cy="1828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860" b="1">
                <a:solidFill>
                  <a:srgbClr val="007AFF"/>
                </a:solidFill>
                <a:latin typeface="Arial"/>
              </a:rPr>
              <a:t>一句話 · 一般使用者不用自己拼 Prompt。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987552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兩種 Prompt 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第一次生成用 Prompt A；腳本失敗後用 Prompt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468112" cy="4389120"/>
          </a:xfrm>
          <a:prstGeom prst="roundRect">
            <a:avLst/>
          </a:prstGeom>
          <a:solidFill>
            <a:srgbClr val="EAF9EE"/>
          </a:solidFill>
          <a:ln w="12700">
            <a:solidFill>
              <a:srgbClr val="EAF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920240"/>
            <a:ext cx="1417320" cy="256032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Prompt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49424"/>
            <a:ext cx="448056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1F1F"/>
                </a:solidFill>
                <a:latin typeface="Arial"/>
              </a:rPr>
              <a:t>生成新腳本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4572000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0">
                <a:solidFill>
                  <a:srgbClr val="6E6E73"/>
                </a:solidFill>
                <a:latin typeface="Arial"/>
              </a:rPr>
              <a:t>• 第一次請 AI 寫腳本時使用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0">
                <a:solidFill>
                  <a:srgbClr val="6E6E73"/>
                </a:solidFill>
                <a:latin typeface="Arial"/>
              </a:rPr>
              <a:t>• 上傳骨架檔 + 全部素材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0">
                <a:solidFill>
                  <a:srgbClr val="6E6E73"/>
                </a:solidFill>
                <a:latin typeface="Arial"/>
              </a:rPr>
              <a:t>• 把有 ⬅ 標記的行改成自己的內容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57600"/>
            <a:ext cx="501091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85615"/>
            <a:ext cx="4663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1">
                <a:solidFill>
                  <a:srgbClr val="34C759"/>
                </a:solidFill>
                <a:latin typeface="Arial"/>
              </a:rPr>
              <a:t>你要對 AI 說的重點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059936"/>
            <a:ext cx="4572000" cy="10789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1F1F1F"/>
                </a:solidFill>
                <a:latin typeface="Arial"/>
              </a:rPr>
              <a:t>我已上傳這次任務的全部附件。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1F1F1F"/>
                </a:solidFill>
                <a:latin typeface="Arial"/>
              </a:rPr>
              <a:t>請以骨架檔為基礎，幫我補完腳本。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1F1F1F"/>
                </a:solidFill>
                <a:latin typeface="Arial"/>
              </a:rPr>
              <a:t>我要完成的事情：……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93792" cy="4389120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FFF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47104" y="1920240"/>
            <a:ext cx="1417320" cy="256032"/>
          </a:xfrm>
          <a:prstGeom prst="round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Prompt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249424"/>
            <a:ext cx="43891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1F1F"/>
                </a:solidFill>
                <a:latin typeface="Arial"/>
              </a:rPr>
              <a:t>修正失敗腳本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560320"/>
            <a:ext cx="4389120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0">
                <a:solidFill>
                  <a:srgbClr val="6E6E73"/>
                </a:solidFill>
                <a:latin typeface="Arial"/>
              </a:rPr>
              <a:t>• 腳本跑過一次但失敗了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0">
                <a:solidFill>
                  <a:srgbClr val="6E6E73"/>
                </a:solidFill>
                <a:latin typeface="Arial"/>
              </a:rPr>
              <a:t>• 上傳失敗腳本 + 最新 log + 錯誤訊息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0">
                <a:solidFill>
                  <a:srgbClr val="6E6E73"/>
                </a:solidFill>
                <a:latin typeface="Arial"/>
              </a:rPr>
              <a:t>• 再加上最新快照 / 截圖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3657600"/>
            <a:ext cx="473659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4" y="3785615"/>
            <a:ext cx="43891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1">
                <a:solidFill>
                  <a:srgbClr val="FF9500"/>
                </a:solidFill>
                <a:latin typeface="Arial"/>
              </a:rPr>
              <a:t>你要對 AI 說的重點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4059936"/>
            <a:ext cx="4389120" cy="10789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1F1F1F"/>
                </a:solidFill>
                <a:latin typeface="Arial"/>
              </a:rPr>
              <a:t>請幫我找出問題並直接修正。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1F1F1F"/>
                </a:solidFill>
                <a:latin typeface="Arial"/>
              </a:rPr>
              <a:t>最重要的是：附上最新的 log 與失敗當下的素材。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1F1F1F"/>
                </a:solidFill>
                <a:latin typeface="Arial"/>
              </a:rPr>
              <a:t>再請 AI 回覆完整腳本。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705856"/>
            <a:ext cx="10241280" cy="29260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5760720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63040" y="5760720"/>
            <a:ext cx="9546336" cy="1828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860" b="1">
                <a:solidFill>
                  <a:srgbClr val="007AFF"/>
                </a:solidFill>
                <a:latin typeface="Arial"/>
              </a:rPr>
              <a:t>重點 · 只改有 ⬅ 標記的行，其餘原封不動。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執行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步驟三：執行腳本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把 AI 寫好的腳本存回來，再用統一入口執行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55648"/>
            <a:ext cx="5029200" cy="96012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20240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8448" y="1883664"/>
            <a:ext cx="393192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F1F1F"/>
                </a:solidFill>
                <a:latin typeface="Arial"/>
              </a:rPr>
              <a:t>1. 存回 AI 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139696"/>
            <a:ext cx="3931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E6E73"/>
                </a:solidFill>
                <a:latin typeface="Arial"/>
              </a:rPr>
              <a:t>覆蓋原本的骨架檔，保持檔名不變。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8032" y="1901952"/>
            <a:ext cx="676656" cy="18288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回存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40"/>
            <a:ext cx="5029200" cy="109728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054096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98448" y="2944368"/>
            <a:ext cx="393192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F1F1F"/>
                </a:solidFill>
                <a:latin typeface="Arial"/>
              </a:rPr>
              <a:t>2. 設定 .env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200400"/>
            <a:ext cx="39319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E6E73"/>
                </a:solidFill>
                <a:latin typeface="Arial"/>
              </a:rPr>
              <a:t>需要欄位時，先複製 .env.example 成 .env，再填入必要值。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2999232"/>
            <a:ext cx="950976" cy="18288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07AFF"/>
                </a:solidFill>
                <a:latin typeface="Arial"/>
              </a:rPr>
              <a:t>例：CERT_PASSWORD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96512"/>
            <a:ext cx="5029200" cy="138988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352544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98448" y="4242816"/>
            <a:ext cx="393192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80" b="1">
                <a:solidFill>
                  <a:srgbClr val="1F1F1F"/>
                </a:solidFill>
                <a:latin typeface="Arial"/>
              </a:rPr>
              <a:t>3. 開始執行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8448" y="4553712"/>
            <a:ext cx="38404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8176" y="4636008"/>
            <a:ext cx="362102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007AFF"/>
                </a:solidFill>
                <a:latin typeface="Arial"/>
              </a:rPr>
              <a:t>.\run-task.ps1 src\你的腳本.ts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956048"/>
            <a:ext cx="379476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34C759"/>
                </a:solidFill>
                <a:latin typeface="Arial"/>
              </a:rPr>
              <a:t>看到 ✅ 任務執行成功 就完成了。</a:t>
            </a:r>
          </a:p>
        </p:txBody>
      </p:sp>
      <p:pic>
        <p:nvPicPr>
          <p:cNvPr id="24" name="Picture 23" descr="terminal_suc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755648"/>
            <a:ext cx="5623560" cy="44805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40080" y="5559552"/>
            <a:ext cx="5029200" cy="274320"/>
          </a:xfrm>
          <a:prstGeom prst="roundRect">
            <a:avLst/>
          </a:prstGeom>
          <a:solidFill>
            <a:srgbClr val="EAF9EE"/>
          </a:solidFill>
          <a:ln w="12700">
            <a:solidFill>
              <a:srgbClr val="EAF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614416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88719" y="5614416"/>
            <a:ext cx="4334256" cy="1645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860" b="1">
                <a:solidFill>
                  <a:srgbClr val="34C759"/>
                </a:solidFill>
                <a:latin typeface="Arial"/>
              </a:rPr>
              <a:t>成功標誌 · 看到綠字就是完成。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常見問題速查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看到哪個症狀，就看對應卡片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621024" cy="1243584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83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7007" y="1865376"/>
            <a:ext cx="2834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1F1F1F"/>
                </a:solidFill>
                <a:latin typeface="Arial"/>
              </a:rPr>
              <a:t>install.ps1 紅字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121408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離線包缺件；把 logs 給準備者。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737360"/>
            <a:ext cx="3621024" cy="1243584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row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883664"/>
            <a:ext cx="347472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0" y="1865376"/>
            <a:ext cx="2834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1F1F1F"/>
                </a:solidFill>
                <a:latin typeface="Arial"/>
              </a:rPr>
              <a:t>launch-edge.ps1 沒反應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21408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確認已安裝 Edge，且在完整工具包內執行。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737360"/>
            <a:ext cx="3621024" cy="1243584"/>
          </a:xfrm>
          <a:prstGeom prst="roundRect">
            <a:avLst/>
          </a:prstGeom>
          <a:solidFill>
            <a:srgbClr val="E8F7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ow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83664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51392" y="1865376"/>
            <a:ext cx="2834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1F1F1F"/>
                </a:solidFill>
                <a:latin typeface="Arial"/>
              </a:rPr>
              <a:t>collect 找不到頁面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2121408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用 launch-edge 開出的那個視窗，並確認已登入。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3621024" cy="1243584"/>
          </a:xfrm>
          <a:prstGeom prst="roundRect">
            <a:avLst/>
          </a:prstGeom>
          <a:solidFill>
            <a:srgbClr val="F5EC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392424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07007" y="3374136"/>
            <a:ext cx="2834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1F1F1F"/>
                </a:solidFill>
                <a:latin typeface="Arial"/>
              </a:rPr>
              <a:t>run-task 缺少 .env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3630168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Copy-Item .env.example .env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2272" y="3246120"/>
            <a:ext cx="3621024" cy="1243584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3392424"/>
            <a:ext cx="347472" cy="3474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0" y="3374136"/>
            <a:ext cx="2834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1F1F1F"/>
                </a:solidFill>
                <a:latin typeface="Arial"/>
              </a:rPr>
              <a:t>腳本跑到一半停住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630168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收 log + 最新快照，用 Prompt B 修正。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84464" y="3246120"/>
            <a:ext cx="3621024" cy="1243584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392424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851392" y="3374136"/>
            <a:ext cx="2834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20" b="1">
                <a:solidFill>
                  <a:srgbClr val="1F1F1F"/>
                </a:solidFill>
                <a:latin typeface="Arial"/>
              </a:rPr>
              <a:t>PowerShell 停用指令碼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3630168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6E6E73"/>
                </a:solidFill>
                <a:latin typeface="Arial"/>
              </a:rPr>
              <a:t>Set-ExecutionPolicy RemoteSigned。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956048"/>
            <a:ext cx="7269480" cy="512064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row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5020056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17319" y="5010912"/>
            <a:ext cx="6574536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19" b="1">
                <a:solidFill>
                  <a:srgbClr val="007AFF"/>
                </a:solidFill>
                <a:latin typeface="Arial"/>
              </a:rPr>
              <a:t>Chrome 使用</a:t>
            </a:r>
          </a:p>
          <a:p>
            <a:pPr algn="l"/>
            <a:r>
              <a:rPr sz="840" b="0">
                <a:solidFill>
                  <a:srgbClr val="1F1F1F"/>
                </a:solidFill>
                <a:latin typeface="Arial"/>
              </a:rPr>
              <a:t>主線是 Edge；若要用 Chrome，只替換 launch-edge.ps1 → launch-chrome.ps1，collect.ps1 --browser edge → collect.ps1。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75904" y="4956048"/>
            <a:ext cx="3639312" cy="512064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FFF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5020056"/>
            <a:ext cx="384048" cy="3840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924544" y="5010912"/>
            <a:ext cx="2944368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19" b="1">
                <a:solidFill>
                  <a:srgbClr val="FF9500"/>
                </a:solidFill>
                <a:latin typeface="Arial"/>
              </a:rPr>
              <a:t>補充</a:t>
            </a:r>
          </a:p>
          <a:p>
            <a:pPr algn="l"/>
            <a:r>
              <a:rPr sz="840" b="0">
                <a:solidFill>
                  <a:srgbClr val="1F1F1F"/>
                </a:solidFill>
                <a:latin typeface="Arial"/>
              </a:rPr>
              <a:t>工具包壞了就找準備者。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10896"/>
            <a:ext cx="768096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>
                <a:solidFill>
                  <a:srgbClr val="007AFF"/>
                </a:solidFill>
                <a:latin typeface="Arial"/>
              </a:rPr>
              <a:t>主線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記住這條主線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424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E6E73"/>
                </a:solidFill>
                <a:latin typeface="Arial"/>
              </a:rPr>
              <a:t>把流程記成一條線，就不容易走偏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1018520" cy="13716"/>
          </a:xfrm>
          <a:prstGeom prst="rect">
            <a:avLst/>
          </a:prstGeom>
          <a:solidFill>
            <a:srgbClr val="D2D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3096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  <a:latin typeface="Arial"/>
              </a:rPr>
              <a:t>RPA-Cowork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E6E73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847088" cy="100584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304288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8992" y="2267712"/>
            <a:ext cx="129844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打開 PowerShell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496312"/>
            <a:ext cx="228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148840"/>
            <a:ext cx="1847088" cy="100584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2304288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36392" y="2267712"/>
            <a:ext cx="129844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Edge 蒐集素材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96312"/>
            <a:ext cx="228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148840"/>
            <a:ext cx="1847088" cy="100584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304288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93792" y="2267712"/>
            <a:ext cx="129844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new-task.ps1 建骨架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496312"/>
            <a:ext cx="228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2148840"/>
            <a:ext cx="1847088" cy="100584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2304288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51192" y="2267712"/>
            <a:ext cx="129844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骨架＋素材上傳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496312"/>
            <a:ext cx="228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07AFF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148840"/>
            <a:ext cx="1847088" cy="100584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2304288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308592" y="2267712"/>
            <a:ext cx="129844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19" b="1">
                <a:solidFill>
                  <a:srgbClr val="1F1F1F"/>
                </a:solidFill>
                <a:latin typeface="Arial"/>
              </a:rPr>
              <a:t>run-task.ps1 執行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657600"/>
            <a:ext cx="3337560" cy="1042415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war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3822191"/>
            <a:ext cx="329184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70431" y="3803904"/>
            <a:ext cx="2560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1F1F1F"/>
                </a:solidFill>
                <a:latin typeface="Arial"/>
              </a:rPr>
              <a:t>tool 需要補齊？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1" y="4078224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6E6E73"/>
                </a:solidFill>
                <a:latin typeface="Arial"/>
              </a:rPr>
              <a:t>找技術準備者，不要自己補裝。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86784" y="3657600"/>
            <a:ext cx="3337560" cy="1042415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822191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17136" y="3803904"/>
            <a:ext cx="2560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1F1F1F"/>
                </a:solidFill>
                <a:latin typeface="Arial"/>
              </a:rPr>
              <a:t>使用 Chrome？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078224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6E6E73"/>
                </a:solidFill>
                <a:latin typeface="Arial"/>
              </a:rPr>
              <a:t>只替換 launch / collect 兩個指令。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33488" y="3657600"/>
            <a:ext cx="3337560" cy="1042415"/>
          </a:xfrm>
          <a:prstGeom prst="roundRect">
            <a:avLst/>
          </a:prstGeom>
          <a:solidFill>
            <a:srgbClr val="EAF9EE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1504" y="3822191"/>
            <a:ext cx="329184" cy="3291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63840" y="3803904"/>
            <a:ext cx="2560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1F1F1F"/>
                </a:solidFill>
                <a:latin typeface="Arial"/>
              </a:rPr>
              <a:t>.env 要保密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078224"/>
            <a:ext cx="2487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6E6E73"/>
                </a:solidFill>
                <a:latin typeface="Arial"/>
              </a:rPr>
              <a:t>不要把 `.env` 或密碼帶出內網。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" y="5230368"/>
            <a:ext cx="10222992" cy="45720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5285231"/>
            <a:ext cx="384048" cy="3840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4752" y="5285231"/>
            <a:ext cx="9528048" cy="3474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19" b="1">
                <a:solidFill>
                  <a:srgbClr val="007AFF"/>
                </a:solidFill>
                <a:latin typeface="Arial"/>
              </a:rPr>
              <a:t>一句話</a:t>
            </a:r>
          </a:p>
          <a:p>
            <a:pPr algn="l"/>
            <a:r>
              <a:rPr sz="840" b="0">
                <a:solidFill>
                  <a:srgbClr val="1F1F1F"/>
                </a:solidFill>
                <a:latin typeface="Arial"/>
              </a:rPr>
              <a:t>Edge 蒐集素材 → 骨架＋素材上傳 AI → run-task 執行。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6112" y="1389888"/>
            <a:ext cx="822960" cy="82296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1554480"/>
            <a:ext cx="822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1952" y="1536192"/>
            <a:ext cx="40233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07AFF"/>
                </a:solidFill>
                <a:latin typeface="Arial"/>
              </a:rPr>
              <a:t>RPA-Cowork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084831"/>
            <a:ext cx="100584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1F1F1F"/>
                </a:solidFill>
                <a:latin typeface="Arial"/>
              </a:rPr>
              <a:t>打開 PowerShell → 蒐集素材 → 交給 AI → 執行任務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62656"/>
            <a:ext cx="9509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6E6E73"/>
                </a:solidFill>
                <a:latin typeface="Arial"/>
              </a:rPr>
              <a:t>離線優先 · 人機協作 · 零程式門檻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3785615"/>
            <a:ext cx="5486400" cy="1207008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2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06908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82496" y="3986784"/>
            <a:ext cx="438912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60" b="1">
                <a:solidFill>
                  <a:srgbClr val="1F1F1F"/>
                </a:solidFill>
                <a:latin typeface="Arial"/>
              </a:rPr>
              <a:t>如果工具包壞了，回頭找技術準備者。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4297680"/>
            <a:ext cx="438912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E6E73"/>
                </a:solidFill>
                <a:latin typeface="Arial"/>
              </a:rPr>
              <a:t>不要自行安裝 Node.js / npm。</a:t>
            </a:r>
          </a:p>
        </p:txBody>
      </p:sp>
      <p:pic>
        <p:nvPicPr>
          <p:cNvPr id="11" name="Picture 10" descr="workflow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43584"/>
            <a:ext cx="5029200" cy="3566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37960" y="5102352"/>
            <a:ext cx="5029200" cy="512064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5166360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86600" y="5157216"/>
            <a:ext cx="4334256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1019" b="1">
                <a:solidFill>
                  <a:srgbClr val="007AFF"/>
                </a:solidFill>
                <a:latin typeface="Arial"/>
              </a:rPr>
              <a:t>下一步</a:t>
            </a:r>
          </a:p>
          <a:p>
            <a:pPr algn="l"/>
            <a:r>
              <a:rPr sz="840" b="0">
                <a:solidFill>
                  <a:srgbClr val="1F1F1F"/>
                </a:solidFill>
                <a:latin typeface="Arial"/>
              </a:rPr>
              <a:t>照流程做，AI 會幫你把腳本補完。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RPA-Cowork 簡報</dc:title>
  <dc:subject>RPA-Cowork 內網自動化協作流程</dc:subject>
  <dc:creator>Copilot</dc:creator>
  <cp:keywords/>
  <dc:description>Rebuilt to be image-rich and Apple-minimalist.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